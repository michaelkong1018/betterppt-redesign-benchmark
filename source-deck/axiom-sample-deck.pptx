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</p:sldMasterIdLst>
  <p:notesMasterIdLst>
    <p:notesMasterId r:id="rId6"/>
  </p:notesMasterIdLst>
  <p:sldIdLst>
    <p:sldId id="272" r:id="rId4"/>
    <p:sldId id="257" r:id="rId5"/>
    <p:sldId id="266" r:id="rId7"/>
    <p:sldId id="267" r:id="rId8"/>
    <p:sldId id="268" r:id="rId9"/>
    <p:sldId id="269" r:id="rId10"/>
    <p:sldId id="264" r:id="rId11"/>
    <p:sldId id="265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9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869440" y="224790"/>
            <a:ext cx="6522720" cy="18230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sz="4800"/>
              <a:t>AXIOM Manufacturing Group</a:t>
            </a:r>
            <a:endParaRPr lang="en-US" sz="4800"/>
          </a:p>
        </p:txBody>
      </p:sp>
      <p:sp>
        <p:nvSpPr>
          <p:cNvPr id="3" name="Text Box 2"/>
          <p:cNvSpPr txBox="1"/>
          <p:nvPr/>
        </p:nvSpPr>
        <p:spPr>
          <a:xfrm>
            <a:off x="1141730" y="2275840"/>
            <a:ext cx="7977505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3600"/>
              <a:t>Intelligent Manufacturing, Globally Delivered</a:t>
            </a:r>
            <a:endParaRPr lang="en-US" sz="3600"/>
          </a:p>
          <a:p>
            <a:r>
              <a:rPr lang="en-US" sz="3600"/>
              <a:t>Corporate Introduction 2025</a:t>
            </a:r>
            <a:endParaRPr lang="en-US" sz="3600"/>
          </a:p>
          <a:p>
            <a:r>
              <a:rPr lang="en-US" sz="3600"/>
              <a:t> Global Headquarters · Shanghai</a:t>
            </a:r>
            <a:endParaRPr lang="en-US" sz="36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59936" cy="685800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Text 1"/>
          <p:cNvSpPr/>
          <p:nvPr/>
        </p:nvSpPr>
        <p:spPr>
          <a:xfrm>
            <a:off x="457200" y="2468880"/>
            <a:ext cx="3145536" cy="9144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CONTENTS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1572768" y="3429000"/>
            <a:ext cx="914400" cy="54864"/>
          </a:xfrm>
          <a:prstGeom prst="rect">
            <a:avLst/>
          </a:prstGeom>
          <a:solidFill>
            <a:srgbClr val="FFFFFF"/>
          </a:solidFill>
        </p:spPr>
      </p:sp>
      <p:sp>
        <p:nvSpPr>
          <p:cNvPr id="5" name="Text 3"/>
          <p:cNvSpPr/>
          <p:nvPr/>
        </p:nvSpPr>
        <p:spPr>
          <a:xfrm>
            <a:off x="457200" y="3611880"/>
            <a:ext cx="3145536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kern="0" spc="300" dirty="0">
                <a:solidFill>
                  <a:srgbClr val="BFDBFE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AXIOM · 2025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0" y="1143000"/>
            <a:ext cx="566928" cy="566928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7" name="Text 5"/>
          <p:cNvSpPr/>
          <p:nvPr/>
        </p:nvSpPr>
        <p:spPr>
          <a:xfrm>
            <a:off x="4572000" y="11430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0" y="114300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About Us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8321040" y="1143000"/>
            <a:ext cx="566928" cy="566928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10" name="Text 8"/>
          <p:cNvSpPr/>
          <p:nvPr/>
        </p:nvSpPr>
        <p:spPr>
          <a:xfrm>
            <a:off x="8321040" y="114300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052560" y="114300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Technology &amp; R&amp;D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0" y="2011680"/>
            <a:ext cx="566928" cy="566928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13" name="Text 11"/>
          <p:cNvSpPr/>
          <p:nvPr/>
        </p:nvSpPr>
        <p:spPr>
          <a:xfrm>
            <a:off x="4572000" y="20116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03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303520" y="201168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Manufacturing System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8321040" y="2011680"/>
            <a:ext cx="566928" cy="566928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16" name="Text 14"/>
          <p:cNvSpPr/>
          <p:nvPr/>
        </p:nvSpPr>
        <p:spPr>
          <a:xfrm>
            <a:off x="8321040" y="20116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052560" y="201168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Global Market Layout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572000" y="2880360"/>
            <a:ext cx="566928" cy="566928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19" name="Text 17"/>
          <p:cNvSpPr/>
          <p:nvPr/>
        </p:nvSpPr>
        <p:spPr>
          <a:xfrm>
            <a:off x="4572000" y="2880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05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303520" y="288036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Product Portfolio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21040" y="2880360"/>
            <a:ext cx="566928" cy="566928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22" name="Text 20"/>
          <p:cNvSpPr/>
          <p:nvPr/>
        </p:nvSpPr>
        <p:spPr>
          <a:xfrm>
            <a:off x="8321040" y="28803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06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052560" y="288036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Core Advantages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4572000" y="3749040"/>
            <a:ext cx="566928" cy="566928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25" name="Text 23"/>
          <p:cNvSpPr/>
          <p:nvPr/>
        </p:nvSpPr>
        <p:spPr>
          <a:xfrm>
            <a:off x="4572000" y="37490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07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303520" y="374904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Benchmark Cases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8321040" y="3749040"/>
            <a:ext cx="566928" cy="566928"/>
          </a:xfrm>
          <a:prstGeom prst="rect">
            <a:avLst/>
          </a:prstGeom>
          <a:solidFill>
            <a:srgbClr val="DBEAFE"/>
          </a:solidFill>
        </p:spPr>
      </p:sp>
      <p:sp>
        <p:nvSpPr>
          <p:cNvPr id="28" name="Text 26"/>
          <p:cNvSpPr/>
          <p:nvPr/>
        </p:nvSpPr>
        <p:spPr>
          <a:xfrm>
            <a:off x="8321040" y="37490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08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52560" y="3749040"/>
            <a:ext cx="274320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Future Roadmap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50645" y="1437640"/>
            <a:ext cx="6038215" cy="258445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- Founded in 2008, headquartered in Shanghai, a global intelligent manufacturing enterprise.</a:t>
            </a:r>
            <a:endParaRPr lang="en-US"/>
          </a:p>
          <a:p>
            <a:r>
              <a:rPr lang="en-US"/>
              <a:t>- 18,000+ employees worldwide; 1,200+ R\&amp;D engineers.</a:t>
            </a:r>
            <a:endParaRPr lang="en-US"/>
          </a:p>
          <a:p>
            <a:r>
              <a:rPr lang="en-US"/>
              <a:t>- 12 smart factories across 3 continents; 6 global R\&amp;D centers.</a:t>
            </a:r>
            <a:endParaRPr lang="en-US"/>
          </a:p>
          <a:p>
            <a:r>
              <a:rPr lang="en-US"/>
              <a:t>- Operations in 60+ countries; annual revenue exceeding USD 4.2B.</a:t>
            </a:r>
            <a:endParaRPr lang="en-US"/>
          </a:p>
          <a:p>
            <a:r>
              <a:rPr lang="en-US"/>
              <a:t>- Mission: "Empower industry with intelligence." Vision: "A smart factory in every key market by 2030."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488440" y="6400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About </a:t>
            </a:r>
            <a:r>
              <a:rPr lang="en-US"/>
              <a:t>us</a:t>
            </a:r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951865" y="1437640"/>
            <a:ext cx="5466715" cy="272288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- R\&amp;D investment equals 11% of annual revenue — above the 10%-14% industry benchmark.</a:t>
            </a:r>
            <a:endParaRPr lang="en-US"/>
          </a:p>
          <a:p>
            <a:r>
              <a:rPr lang="en-US"/>
              <a:t>- 1,200+ R\&amp;D engineers; 800+ granted patents; 6 global R\&amp;D centers.</a:t>
            </a:r>
            <a:endParaRPr lang="en-US"/>
          </a:p>
          <a:p>
            <a:r>
              <a:rPr lang="en-US"/>
              <a:t>- Digital twin cuts product R\&amp;D cycles by up to 60%; AI quality inspection reduces defect rates by 34%.</a:t>
            </a:r>
            <a:endParaRPr lang="en-US"/>
          </a:p>
          <a:p>
            <a:r>
              <a:rPr lang="en-US"/>
              <a:t>- Core tech: Industrial IoT, AI process optimization, edge computing, robotics, digital twin.</a:t>
            </a:r>
            <a:endParaRPr lang="en-US"/>
          </a:p>
          <a:p>
            <a:r>
              <a:rPr lang="en-US"/>
              <a:t>- Joint innovation with leading universities and national laboratories.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055370" y="83058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Technology &amp; R\&amp;D</a:t>
            </a:r>
            <a:endParaRPr lang="en-US"/>
          </a:p>
        </p:txBody>
      </p:sp>
      <p:pic>
        <p:nvPicPr>
          <p:cNvPr id="4" name="Picture 3" descr="Snapzy_2026-09-14_21-25-04_09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0740" y="1437640"/>
            <a:ext cx="3863340" cy="22301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 Box 1"/>
          <p:cNvSpPr txBox="1"/>
          <p:nvPr/>
        </p:nvSpPr>
        <p:spPr>
          <a:xfrm>
            <a:off x="1350645" y="1160780"/>
            <a:ext cx="4964430" cy="1568450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- 12 intelligent factories fully integrated with MES, ERP and SCADA systems.</a:t>
            </a:r>
            <a:endParaRPr lang="en-US"/>
          </a:p>
          <a:p>
            <a:r>
              <a:rPr lang="en-US"/>
              <a:t>- Overall Equipment Effectiveness (OEE) reaches 92%; automation rate 85%.</a:t>
            </a:r>
            <a:endParaRPr lang="en-US"/>
          </a:p>
          <a:p>
            <a:r>
              <a:rPr lang="en-US"/>
              <a:t>- Real-time data cockpit enables end-to-end visibility and predictive maintenance.</a:t>
            </a:r>
            <a:endParaRPr lang="en-US"/>
          </a:p>
          <a:p>
            <a:r>
              <a:rPr lang="en-US"/>
              <a:t>- </a:t>
            </a:r>
            <a:endParaRPr lang="en-US"/>
          </a:p>
        </p:txBody>
      </p:sp>
      <p:sp>
        <p:nvSpPr>
          <p:cNvPr id="3" name="Text Box 2"/>
          <p:cNvSpPr txBox="1"/>
          <p:nvPr/>
        </p:nvSpPr>
        <p:spPr>
          <a:xfrm>
            <a:off x="1350645" y="53594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/>
              <a:t>Manufacturing System</a:t>
            </a:r>
            <a:endParaRPr lang="en-US"/>
          </a:p>
        </p:txBody>
      </p:sp>
      <p:pic>
        <p:nvPicPr>
          <p:cNvPr id="4" name="Picture 3" descr="Snapzy_2026-09-14_21-32-33_42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3650" y="2729230"/>
            <a:ext cx="4064000" cy="2889250"/>
          </a:xfrm>
          <a:prstGeom prst="rect">
            <a:avLst/>
          </a:prstGeom>
        </p:spPr>
      </p:pic>
      <p:pic>
        <p:nvPicPr>
          <p:cNvPr id="5" name="Picture 4" descr="Snapzy_2026-09-14_21-32-44_11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86230" y="3134360"/>
            <a:ext cx="3592830" cy="3352165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7757795" y="1160780"/>
            <a:ext cx="4064000" cy="1476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>
                <a:sym typeface="+mn-ea"/>
              </a:rPr>
              <a:t>Green manufacturing: 40% renewable energy, zero-landfill target by 2030.</a:t>
            </a:r>
            <a:endParaRPr lang="en-US"/>
          </a:p>
          <a:p>
            <a:r>
              <a:rPr lang="en-US">
                <a:sym typeface="+mn-ea"/>
              </a:rPr>
              <a:t>- Quality system certified to ISO 9001 / IATF 16949 / ISO 14001.</a:t>
            </a:r>
            <a:endParaRPr lang="en-US"/>
          </a:p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ext Box 2"/>
          <p:cNvSpPr txBox="1"/>
          <p:nvPr/>
        </p:nvSpPr>
        <p:spPr>
          <a:xfrm>
            <a:off x="1177290" y="363855"/>
            <a:ext cx="3717290" cy="48958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/>
              <a:t>Product </a:t>
            </a:r>
            <a:r>
              <a:rPr lang="en-US"/>
              <a:t>series</a:t>
            </a:r>
            <a:endParaRPr lang="en-US"/>
          </a:p>
        </p:txBody>
      </p:sp>
      <p:pic>
        <p:nvPicPr>
          <p:cNvPr id="5" name="Picture 4" descr="Snapzy_2026-09-14_21-41-24_56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220" y="1690370"/>
            <a:ext cx="2692400" cy="2550160"/>
          </a:xfrm>
          <a:prstGeom prst="rect">
            <a:avLst/>
          </a:prstGeom>
        </p:spPr>
      </p:pic>
      <p:sp>
        <p:nvSpPr>
          <p:cNvPr id="6" name="Text Box 5"/>
          <p:cNvSpPr txBox="1"/>
          <p:nvPr/>
        </p:nvSpPr>
        <p:spPr>
          <a:xfrm>
            <a:off x="536575" y="4526280"/>
            <a:ext cx="2044065" cy="1476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 High-end CNC Equipment: five-axis machining centers for aerospace &amp; mold.</a:t>
            </a:r>
            <a:endParaRPr lang="en-US">
              <a:sym typeface="+mn-ea"/>
            </a:endParaRPr>
          </a:p>
        </p:txBody>
      </p:sp>
      <p:pic>
        <p:nvPicPr>
          <p:cNvPr id="7" name="Picture 6" descr="Snapzy_2026-09-14_21-42-09_89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20135" y="1546225"/>
            <a:ext cx="2794000" cy="2550160"/>
          </a:xfrm>
          <a:prstGeom prst="rect">
            <a:avLst/>
          </a:prstGeom>
        </p:spPr>
      </p:pic>
      <p:sp>
        <p:nvSpPr>
          <p:cNvPr id="8" name="Text Box 7"/>
          <p:cNvSpPr txBox="1"/>
          <p:nvPr/>
        </p:nvSpPr>
        <p:spPr>
          <a:xfrm>
            <a:off x="3757930" y="4664710"/>
            <a:ext cx="2794000" cy="119888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Precision Components: tolerances within ±0.001 mm for automotive &amp; electronics.</a:t>
            </a:r>
            <a:endParaRPr lang="en-US">
              <a:sym typeface="+mn-ea"/>
            </a:endParaRPr>
          </a:p>
        </p:txBody>
      </p:sp>
      <p:pic>
        <p:nvPicPr>
          <p:cNvPr id="9" name="Picture 8" descr="Snapzy_2026-09-14_21-43-00_7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5925" y="1690370"/>
            <a:ext cx="2366010" cy="2360930"/>
          </a:xfrm>
          <a:prstGeom prst="rect">
            <a:avLst/>
          </a:prstGeom>
        </p:spPr>
      </p:pic>
      <p:sp>
        <p:nvSpPr>
          <p:cNvPr id="10" name="Text Box 9"/>
          <p:cNvSpPr txBox="1"/>
          <p:nvPr/>
        </p:nvSpPr>
        <p:spPr>
          <a:xfrm>
            <a:off x="6979285" y="4387850"/>
            <a:ext cx="1939925" cy="175323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Smart Factory Solutions: MES/ERP integration, digital twin, turnkey lines</a:t>
            </a:r>
            <a:endParaRPr lang="en-US">
              <a:sym typeface="+mn-ea"/>
            </a:endParaRPr>
          </a:p>
        </p:txBody>
      </p:sp>
      <p:pic>
        <p:nvPicPr>
          <p:cNvPr id="11" name="Picture 10" descr="Snapzy_2026-09-14_21-43-52_68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79305" y="1788795"/>
            <a:ext cx="2174240" cy="2307590"/>
          </a:xfrm>
          <a:prstGeom prst="rect">
            <a:avLst/>
          </a:prstGeom>
        </p:spPr>
      </p:pic>
      <p:sp>
        <p:nvSpPr>
          <p:cNvPr id="12" name="Text Box 11"/>
          <p:cNvSpPr txBox="1"/>
          <p:nvPr/>
        </p:nvSpPr>
        <p:spPr>
          <a:xfrm>
            <a:off x="9679305" y="4664710"/>
            <a:ext cx="2435225" cy="92202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en-US">
                <a:sym typeface="+mn-ea"/>
              </a:rPr>
              <a:t>Each line backed by 24/7 global service and lifecycle support</a:t>
            </a:r>
            <a:endParaRPr lang="en-US">
              <a:sym typeface="+mn-e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Shape 1"/>
          <p:cNvSpPr/>
          <p:nvPr/>
        </p:nvSpPr>
        <p:spPr>
          <a:xfrm>
            <a:off x="548640" y="566928"/>
            <a:ext cx="82296" cy="658368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4" name="Text 2"/>
          <p:cNvSpPr/>
          <p:nvPr/>
        </p:nvSpPr>
        <p:spPr>
          <a:xfrm>
            <a:off x="777240" y="4572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Benchmark Cases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95528" y="10789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Proven Results Across Industries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1691640"/>
            <a:ext cx="54406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40080" y="1691640"/>
            <a:ext cx="5440680" cy="566928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8" name="Text 6"/>
          <p:cNvSpPr/>
          <p:nvPr/>
        </p:nvSpPr>
        <p:spPr>
          <a:xfrm>
            <a:off x="868680" y="1691640"/>
            <a:ext cx="3977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Automotive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663440" y="1691640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Global OEM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68680" y="235000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" y="257860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Legacy line upgrade for higher throughput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68680" y="28803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Solution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68680" y="310896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Turnkey smart line with integrated MES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68680" y="3447288"/>
            <a:ext cx="4983480" cy="10973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68680" y="3520440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71→93%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68680" y="3776472"/>
            <a:ext cx="166116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OEE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529840" y="3520440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−40%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529840" y="3776472"/>
            <a:ext cx="166116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Downtime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191000" y="3520440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14mo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191000" y="3776472"/>
            <a:ext cx="166116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Payback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08192" y="1691640"/>
            <a:ext cx="54406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08192" y="1691640"/>
            <a:ext cx="5440680" cy="566928"/>
          </a:xfrm>
          <a:prstGeom prst="rect">
            <a:avLst/>
          </a:prstGeom>
          <a:solidFill>
            <a:srgbClr val="334155"/>
          </a:solidFill>
        </p:spPr>
      </p:sp>
      <p:sp>
        <p:nvSpPr>
          <p:cNvPr id="23" name="Text 21"/>
          <p:cNvSpPr/>
          <p:nvPr/>
        </p:nvSpPr>
        <p:spPr>
          <a:xfrm>
            <a:off x="6336792" y="1691640"/>
            <a:ext cx="3977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Aerospace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131552" y="1691640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Tier-1 Supplier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336792" y="2350008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336792" y="2578608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Precision machining at large scale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336792" y="288036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Solution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336792" y="310896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Five-axis CNC cells with in-line inspection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336792" y="3447288"/>
            <a:ext cx="4983480" cy="10973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336792" y="3520440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±0.001mm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6336792" y="3776472"/>
            <a:ext cx="166116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7997952" y="3520440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−34%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7997952" y="3776472"/>
            <a:ext cx="166116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Defects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9659112" y="3520440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+12%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9659112" y="3776472"/>
            <a:ext cx="166116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Yield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40080" y="4096512"/>
            <a:ext cx="54406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0080" y="4096512"/>
            <a:ext cx="5440680" cy="566928"/>
          </a:xfrm>
          <a:prstGeom prst="rect">
            <a:avLst/>
          </a:prstGeom>
          <a:solidFill>
            <a:srgbClr val="475569"/>
          </a:solidFill>
        </p:spPr>
      </p:sp>
      <p:sp>
        <p:nvSpPr>
          <p:cNvPr id="38" name="Text 36"/>
          <p:cNvSpPr/>
          <p:nvPr/>
        </p:nvSpPr>
        <p:spPr>
          <a:xfrm>
            <a:off x="868680" y="4096512"/>
            <a:ext cx="3977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New Energy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4663440" y="4096512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Storage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868680" y="47548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868680" y="498348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Scaling battery module production</a:t>
            </a:r>
            <a:endParaRPr lang="en-US" sz="1300" dirty="0"/>
          </a:p>
        </p:txBody>
      </p:sp>
      <p:sp>
        <p:nvSpPr>
          <p:cNvPr id="42" name="Text 40"/>
          <p:cNvSpPr/>
          <p:nvPr/>
        </p:nvSpPr>
        <p:spPr>
          <a:xfrm>
            <a:off x="868680" y="528523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Solution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868680" y="5513832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Robotic welding plus AGV logistics line</a:t>
            </a:r>
            <a:endParaRPr lang="en-US" sz="1300" dirty="0"/>
          </a:p>
        </p:txBody>
      </p:sp>
      <p:sp>
        <p:nvSpPr>
          <p:cNvPr id="44" name="Shape 42"/>
          <p:cNvSpPr/>
          <p:nvPr/>
        </p:nvSpPr>
        <p:spPr>
          <a:xfrm>
            <a:off x="868680" y="5852160"/>
            <a:ext cx="4983480" cy="10973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8680" y="5925312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−38%</a:t>
            </a:r>
            <a:endParaRPr lang="en-US" sz="1600" dirty="0"/>
          </a:p>
        </p:txBody>
      </p:sp>
      <p:sp>
        <p:nvSpPr>
          <p:cNvPr id="46" name="Text 44"/>
          <p:cNvSpPr/>
          <p:nvPr/>
        </p:nvSpPr>
        <p:spPr>
          <a:xfrm>
            <a:off x="868680" y="6181344"/>
            <a:ext cx="166116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Cycle Time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2529840" y="5925312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−22%</a:t>
            </a:r>
            <a:endParaRPr lang="en-US" sz="1600" dirty="0"/>
          </a:p>
        </p:txBody>
      </p:sp>
      <p:sp>
        <p:nvSpPr>
          <p:cNvPr id="48" name="Text 46"/>
          <p:cNvSpPr/>
          <p:nvPr/>
        </p:nvSpPr>
        <p:spPr>
          <a:xfrm>
            <a:off x="2529840" y="6181344"/>
            <a:ext cx="166116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CO2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191000" y="5925312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−18%</a:t>
            </a:r>
            <a:endParaRPr lang="en-US" sz="1600" dirty="0"/>
          </a:p>
        </p:txBody>
      </p:sp>
      <p:sp>
        <p:nvSpPr>
          <p:cNvPr id="50" name="Text 48"/>
          <p:cNvSpPr/>
          <p:nvPr/>
        </p:nvSpPr>
        <p:spPr>
          <a:xfrm>
            <a:off x="4191000" y="6181344"/>
            <a:ext cx="166116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Cost</a:t>
            </a:r>
            <a:endParaRPr lang="en-US" sz="1050" dirty="0"/>
          </a:p>
        </p:txBody>
      </p:sp>
      <p:sp>
        <p:nvSpPr>
          <p:cNvPr id="51" name="Shape 49"/>
          <p:cNvSpPr/>
          <p:nvPr/>
        </p:nvSpPr>
        <p:spPr>
          <a:xfrm>
            <a:off x="6108192" y="4096512"/>
            <a:ext cx="5440680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6108192" y="4096512"/>
            <a:ext cx="5440680" cy="566928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53" name="Text 51"/>
          <p:cNvSpPr/>
          <p:nvPr/>
        </p:nvSpPr>
        <p:spPr>
          <a:xfrm>
            <a:off x="6336792" y="4096512"/>
            <a:ext cx="397764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Outcome</a:t>
            </a:r>
            <a:endParaRPr lang="en-US" sz="1500" dirty="0"/>
          </a:p>
        </p:txBody>
      </p:sp>
      <p:sp>
        <p:nvSpPr>
          <p:cNvPr id="54" name="Text 52"/>
          <p:cNvSpPr/>
          <p:nvPr/>
        </p:nvSpPr>
        <p:spPr>
          <a:xfrm>
            <a:off x="10131552" y="4096512"/>
            <a:ext cx="1280160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1200" dirty="0">
                <a:solidFill>
                  <a:srgbClr val="CBD5E1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Across Industries</a:t>
            </a:r>
            <a:endParaRPr lang="en-US" sz="1200" dirty="0"/>
          </a:p>
        </p:txBody>
      </p:sp>
      <p:sp>
        <p:nvSpPr>
          <p:cNvPr id="55" name="Text 53"/>
          <p:cNvSpPr/>
          <p:nvPr/>
        </p:nvSpPr>
        <p:spPr>
          <a:xfrm>
            <a:off x="6336792" y="4754880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Challenge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336792" y="4983480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Faster time-to-market, lower cost, higher quality</a:t>
            </a:r>
            <a:endParaRPr lang="en-US" sz="1300" dirty="0"/>
          </a:p>
        </p:txBody>
      </p:sp>
      <p:sp>
        <p:nvSpPr>
          <p:cNvPr id="57" name="Text 55"/>
          <p:cNvSpPr/>
          <p:nvPr/>
        </p:nvSpPr>
        <p:spPr>
          <a:xfrm>
            <a:off x="6336792" y="5285232"/>
            <a:ext cx="1371600" cy="22860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Solution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336792" y="5513832"/>
            <a:ext cx="498348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475569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Co-engineered smart manufacturing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6336792" y="5852160"/>
            <a:ext cx="4983480" cy="10973"/>
          </a:xfrm>
          <a:prstGeom prst="rect">
            <a:avLst/>
          </a:prstGeom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36792" y="5925312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3</a:t>
            </a:r>
            <a:endParaRPr lang="en-US" sz="1600" dirty="0"/>
          </a:p>
        </p:txBody>
      </p:sp>
      <p:sp>
        <p:nvSpPr>
          <p:cNvPr id="61" name="Text 59"/>
          <p:cNvSpPr/>
          <p:nvPr/>
        </p:nvSpPr>
        <p:spPr>
          <a:xfrm>
            <a:off x="6336792" y="6181344"/>
            <a:ext cx="166116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Industries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7997952" y="5925312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6A34A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100%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997952" y="6181344"/>
            <a:ext cx="166116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On-time</a:t>
            </a:r>
            <a:endParaRPr lang="en-US" sz="1050" dirty="0"/>
          </a:p>
        </p:txBody>
      </p:sp>
      <p:sp>
        <p:nvSpPr>
          <p:cNvPr id="64" name="Text 62"/>
          <p:cNvSpPr/>
          <p:nvPr/>
        </p:nvSpPr>
        <p:spPr>
          <a:xfrm>
            <a:off x="9659112" y="5925312"/>
            <a:ext cx="166116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1E3A5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95%</a:t>
            </a:r>
            <a:endParaRPr lang="en-US" sz="1600" dirty="0"/>
          </a:p>
        </p:txBody>
      </p:sp>
      <p:sp>
        <p:nvSpPr>
          <p:cNvPr id="65" name="Text 63"/>
          <p:cNvSpPr/>
          <p:nvPr/>
        </p:nvSpPr>
        <p:spPr>
          <a:xfrm>
            <a:off x="9659112" y="6181344"/>
            <a:ext cx="1661160" cy="16459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Satisfaction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3" name="Shape 1"/>
          <p:cNvSpPr/>
          <p:nvPr/>
        </p:nvSpPr>
        <p:spPr>
          <a:xfrm>
            <a:off x="548640" y="566928"/>
            <a:ext cx="82296" cy="658368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4" name="Text 2"/>
          <p:cNvSpPr/>
          <p:nvPr/>
        </p:nvSpPr>
        <p:spPr>
          <a:xfrm>
            <a:off x="777240" y="457200"/>
            <a:ext cx="8229600" cy="64008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Future Roadmap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795528" y="1078992"/>
            <a:ext cx="822960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2025 – 2030 · Smart + Green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9509760" y="548640"/>
            <a:ext cx="2103120" cy="64008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7" name="Text 5"/>
          <p:cNvSpPr/>
          <p:nvPr/>
        </p:nvSpPr>
        <p:spPr>
          <a:xfrm>
            <a:off x="9509760" y="576072"/>
            <a:ext cx="2103120" cy="256032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Status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509760" y="804672"/>
            <a:ext cx="210312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On Track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743200" y="2103120"/>
            <a:ext cx="320040" cy="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2025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029200" y="2103120"/>
            <a:ext cx="320040" cy="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2027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7315200" y="2103120"/>
            <a:ext cx="320040" cy="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2029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0" y="2103120"/>
            <a:ext cx="320040" cy="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2030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40080" y="1783080"/>
            <a:ext cx="2011680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14" name="Text 12"/>
          <p:cNvSpPr/>
          <p:nvPr/>
        </p:nvSpPr>
        <p:spPr>
          <a:xfrm>
            <a:off x="777240" y="1947672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Scale AI &amp; Twin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77240" y="225856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Digital transformation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2743200" y="2057400"/>
            <a:ext cx="8805672" cy="3200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17" name="Shape 15"/>
          <p:cNvSpPr/>
          <p:nvPr/>
        </p:nvSpPr>
        <p:spPr>
          <a:xfrm>
            <a:off x="2743200" y="2057400"/>
            <a:ext cx="2201418" cy="320040"/>
          </a:xfrm>
          <a:prstGeom prst="rect">
            <a:avLst/>
          </a:prstGeom>
          <a:solidFill>
            <a:srgbClr val="16A34A"/>
          </a:solidFill>
        </p:spPr>
      </p:sp>
      <p:sp>
        <p:nvSpPr>
          <p:cNvPr id="18" name="Text 16"/>
          <p:cNvSpPr/>
          <p:nvPr/>
        </p:nvSpPr>
        <p:spPr>
          <a:xfrm>
            <a:off x="2834640" y="2084832"/>
            <a:ext cx="201853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Launched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40080" y="2816352"/>
            <a:ext cx="2011680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0" name="Text 18"/>
          <p:cNvSpPr/>
          <p:nvPr/>
        </p:nvSpPr>
        <p:spPr>
          <a:xfrm>
            <a:off x="777240" y="2980944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Expand Factories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777240" y="3291840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Capacity build-out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2743200" y="3090672"/>
            <a:ext cx="8805672" cy="3200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3" name="Shape 21"/>
          <p:cNvSpPr/>
          <p:nvPr/>
        </p:nvSpPr>
        <p:spPr>
          <a:xfrm>
            <a:off x="2743200" y="3090672"/>
            <a:ext cx="4402836" cy="320040"/>
          </a:xfrm>
          <a:prstGeom prst="rect">
            <a:avLst/>
          </a:prstGeom>
          <a:solidFill>
            <a:srgbClr val="1E3A5F"/>
          </a:solidFill>
        </p:spPr>
      </p:sp>
      <p:sp>
        <p:nvSpPr>
          <p:cNvPr id="24" name="Text 22"/>
          <p:cNvSpPr/>
          <p:nvPr/>
        </p:nvSpPr>
        <p:spPr>
          <a:xfrm>
            <a:off x="2834640" y="3118104"/>
            <a:ext cx="42199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In progress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40080" y="3849624"/>
            <a:ext cx="2011680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26" name="Text 24"/>
          <p:cNvSpPr/>
          <p:nvPr/>
        </p:nvSpPr>
        <p:spPr>
          <a:xfrm>
            <a:off x="777240" y="4014216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Green &amp; Humanoid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77240" y="4325112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Next wave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2743200" y="4123944"/>
            <a:ext cx="8805672" cy="3200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29" name="Shape 27"/>
          <p:cNvSpPr/>
          <p:nvPr/>
        </p:nvSpPr>
        <p:spPr>
          <a:xfrm>
            <a:off x="4944618" y="4123944"/>
            <a:ext cx="4402836" cy="320040"/>
          </a:xfrm>
          <a:prstGeom prst="rect">
            <a:avLst/>
          </a:prstGeom>
          <a:solidFill>
            <a:srgbClr val="D97706"/>
          </a:solidFill>
        </p:spPr>
      </p:sp>
      <p:sp>
        <p:nvSpPr>
          <p:cNvPr id="30" name="Text 28"/>
          <p:cNvSpPr/>
          <p:nvPr/>
        </p:nvSpPr>
        <p:spPr>
          <a:xfrm>
            <a:off x="5036058" y="4151376"/>
            <a:ext cx="4219956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Planned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" y="4882896"/>
            <a:ext cx="2011680" cy="868680"/>
          </a:xfrm>
          <a:prstGeom prst="rect">
            <a:avLst/>
          </a:prstGeom>
          <a:solidFill>
            <a:srgbClr val="1E293B"/>
          </a:solidFill>
        </p:spPr>
      </p:sp>
      <p:sp>
        <p:nvSpPr>
          <p:cNvPr id="32" name="Text 30"/>
          <p:cNvSpPr/>
          <p:nvPr/>
        </p:nvSpPr>
        <p:spPr>
          <a:xfrm>
            <a:off x="777240" y="5047488"/>
            <a:ext cx="1828800" cy="32004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Global Ecosystem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77240" y="5358384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Vision 2030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2743200" y="5157216"/>
            <a:ext cx="8805672" cy="320040"/>
          </a:xfrm>
          <a:prstGeom prst="rect">
            <a:avLst/>
          </a:prstGeom>
          <a:solidFill>
            <a:srgbClr val="F1F5F9"/>
          </a:solidFill>
        </p:spPr>
      </p:sp>
      <p:sp>
        <p:nvSpPr>
          <p:cNvPr id="35" name="Shape 33"/>
          <p:cNvSpPr/>
          <p:nvPr/>
        </p:nvSpPr>
        <p:spPr>
          <a:xfrm>
            <a:off x="9347454" y="5157216"/>
            <a:ext cx="2201418" cy="320040"/>
          </a:xfrm>
          <a:prstGeom prst="rect">
            <a:avLst/>
          </a:prstGeom>
          <a:solidFill>
            <a:srgbClr val="64748B"/>
          </a:solidFill>
        </p:spPr>
      </p:sp>
      <p:sp>
        <p:nvSpPr>
          <p:cNvPr id="36" name="Text 34"/>
          <p:cNvSpPr/>
          <p:nvPr/>
        </p:nvSpPr>
        <p:spPr>
          <a:xfrm>
            <a:off x="9438894" y="5184648"/>
            <a:ext cx="2018538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Vision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40080" y="5577840"/>
            <a:ext cx="3520440" cy="86868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38" name="Text 36"/>
          <p:cNvSpPr/>
          <p:nvPr/>
        </p:nvSpPr>
        <p:spPr>
          <a:xfrm>
            <a:off x="868680" y="571500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Smart Factories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68680" y="59893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18 by 2027</a:t>
            </a:r>
            <a:endParaRPr lang="en-US" sz="2000" dirty="0"/>
          </a:p>
        </p:txBody>
      </p:sp>
      <p:sp>
        <p:nvSpPr>
          <p:cNvPr id="40" name="Shape 38"/>
          <p:cNvSpPr/>
          <p:nvPr/>
        </p:nvSpPr>
        <p:spPr>
          <a:xfrm>
            <a:off x="4334256" y="5577840"/>
            <a:ext cx="3520440" cy="86868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1" name="Text 39"/>
          <p:cNvSpPr/>
          <p:nvPr/>
        </p:nvSpPr>
        <p:spPr>
          <a:xfrm>
            <a:off x="4562856" y="571500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Revenue Target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4562856" y="59893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USD 8B</a:t>
            </a:r>
            <a:endParaRPr lang="en-US" sz="2000" dirty="0"/>
          </a:p>
        </p:txBody>
      </p:sp>
      <p:sp>
        <p:nvSpPr>
          <p:cNvPr id="43" name="Shape 41"/>
          <p:cNvSpPr/>
          <p:nvPr/>
        </p:nvSpPr>
        <p:spPr>
          <a:xfrm>
            <a:off x="8028432" y="5577840"/>
            <a:ext cx="3520440" cy="868680"/>
          </a:xfrm>
          <a:prstGeom prst="rect">
            <a:avLst/>
          </a:prstGeom>
          <a:solidFill>
            <a:srgbClr val="F8FAFC"/>
          </a:solidFill>
        </p:spPr>
      </p:sp>
      <p:sp>
        <p:nvSpPr>
          <p:cNvPr id="44" name="Text 42"/>
          <p:cNvSpPr/>
          <p:nvPr/>
        </p:nvSpPr>
        <p:spPr>
          <a:xfrm>
            <a:off x="8257032" y="5715000"/>
            <a:ext cx="3063240" cy="27432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00" dirty="0">
                <a:solidFill>
                  <a:srgbClr val="94A3B8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Renewable Energy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257032" y="5989320"/>
            <a:ext cx="3063240" cy="36576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1E293B"/>
                </a:solidFill>
                <a:latin typeface="Arial" panose="020B0604020202090204" pitchFamily="34" charset="0"/>
                <a:ea typeface="Arial" panose="020B0604020202090204" pitchFamily="34" charset="-122"/>
                <a:cs typeface="Arial" panose="020B0604020202090204" pitchFamily="34" charset="-120"/>
              </a:rPr>
              <a:t>50% by 2027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2747</Words>
  <Application>WPS Presentation</Application>
  <PresentationFormat>On-screen Show (16:9)</PresentationFormat>
  <Paragraphs>231</Paragraphs>
  <Slides>8</Slides>
  <Notes>10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8</vt:i4>
      </vt:variant>
    </vt:vector>
  </HeadingPairs>
  <TitlesOfParts>
    <vt:vector size="22" baseType="lpstr">
      <vt:lpstr>Arial</vt:lpstr>
      <vt:lpstr>SimSun</vt:lpstr>
      <vt:lpstr>Wingdings</vt:lpstr>
      <vt:lpstr>Arial</vt:lpstr>
      <vt:lpstr>Arial</vt:lpstr>
      <vt:lpstr>Calibri</vt:lpstr>
      <vt:lpstr>Helvetica Neue</vt:lpstr>
      <vt:lpstr>Microsoft YaHei</vt:lpstr>
      <vt:lpstr>汉仪旗黑</vt:lpstr>
      <vt:lpstr>SimSun</vt:lpstr>
      <vt:lpstr>Arial Unicode MS</vt:lpstr>
      <vt:lpstr>汉仪书宋二KW</vt:lpstr>
      <vt:lpstr>Office Theme</vt:lpstr>
      <vt:lpstr>1_Office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AXIOM Manufacturing Group — Corporate Introduction</dc:title>
  <dc:creator>AXIOM Manufacturing Group</dc:creator>
  <dc:subject>PptxGenJS Presentation</dc:subject>
  <cp:lastModifiedBy>qzuser</cp:lastModifiedBy>
  <cp:revision>5</cp:revision>
  <dcterms:created xsi:type="dcterms:W3CDTF">2026-09-19T07:07:57Z</dcterms:created>
  <dcterms:modified xsi:type="dcterms:W3CDTF">2026-09-19T07:07:57Z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FC1ABC609BD291415EF6A76A32744D11_42</vt:lpwstr>
  </property>
  <property fmtid="{D5CDD505-2E9C-101B-9397-08002B2CF9AE}" pid="3" name="KSOProductBuildVer">
    <vt:lpwstr>1033-6.8.2.8850</vt:lpwstr>
  </property>
</Properties>
</file>